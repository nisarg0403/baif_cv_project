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5375" y="1477416"/>
            <a:ext cx="10001250" cy="2102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520"/>
              </a:lnSpc>
            </a:pPr>
            <a:r>
              <a:rPr sz="4800" b="1" i="0" u="none">
                <a:solidFill>
                  <a:srgbClr val="166534"/>
                </a:solidFill>
                <a:latin typeface="Poppins"/>
              </a:rPr>
              <a:t>Computer Vision-Based Body Weight Estimation of Dairy Cattle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3500" y="3866108"/>
            <a:ext cx="95250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0" i="0" u="none">
                <a:solidFill>
                  <a:srgbClr val="475569"/>
                </a:solidFill>
                <a:latin typeface="Inter Medium"/>
              </a:rPr>
              <a:t>A Deep Learning Approach for Indian Smallholder Dairy Systems</a:t>
            </a:r>
            <a:r>
              <a:t>
</a:t>
            </a:r>
            <a:r>
              <a:rPr sz="1800" b="0" i="0" u="none">
                <a:solidFill>
                  <a:srgbClr val="1E293B"/>
                </a:solidFill>
                <a:latin typeface="Inter SemiBold"/>
              </a:rPr>
              <a:t>Nisarg Vakharia</a:t>
            </a:r>
            <a:r>
              <a:rPr sz="1800" b="0" i="0" u="none">
                <a:solidFill>
                  <a:srgbClr val="475569"/>
                </a:solidFill>
                <a:latin typeface="Inter Medium"/>
              </a:rPr>
              <a:t> | Faculty Guide: Dr. Jayashree Prasad</a:t>
            </a:r>
            <a:r>
              <a:t>
</a:t>
            </a:r>
            <a:r>
              <a:rPr sz="1800" b="0" i="0" u="none">
                <a:solidFill>
                  <a:srgbClr val="475569"/>
                </a:solidFill>
                <a:latin typeface="Inter Medium"/>
              </a:rPr>
              <a:t> Experiential Learning — MIT School of Computing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09750"/>
            <a:ext cx="3429000" cy="4191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0" y="1809750"/>
            <a:ext cx="3429000" cy="4191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0" y="1809750"/>
            <a:ext cx="3429000" cy="4191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6775" y="3000375"/>
            <a:ext cx="2850356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166534"/>
                </a:solidFill>
                <a:latin typeface="Poppins SemiBold"/>
              </a:rPr>
              <a:t>Feeding &amp; Nutrition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543300"/>
            <a:ext cx="283845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Accurate body weight is critical for making precise feeding decisions, optimizing nutritional intake, and ensuring healthy livestock development.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6775" y="3000375"/>
            <a:ext cx="268033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166534"/>
                </a:solidFill>
                <a:latin typeface="Poppins SemiBold"/>
              </a:rPr>
              <a:t>Health &amp; Breeding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6775" y="3543300"/>
            <a:ext cx="283845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Weight tracking aids in determining optimal breeding times and supports active monitoring of animal health and medical dosages.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86775" y="3000375"/>
            <a:ext cx="2980372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166534"/>
                </a:solidFill>
                <a:latin typeface="Poppins SemiBold"/>
              </a:rPr>
              <a:t>The Measurement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86775" y="3943350"/>
            <a:ext cx="283845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Smallholder farms lack access to expensive weighing scales. Manual tape measurement is labor-intensive, stressful to animals, and often inaccurate.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247900"/>
            <a:ext cx="457200" cy="4572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6775" y="2247900"/>
            <a:ext cx="457200" cy="4572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6775" y="2247900"/>
            <a:ext cx="571500" cy="457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Poppins"/>
              </a:rPr>
              <a:t>Domain &amp; Motivation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390650"/>
            <a:ext cx="11049000" cy="50292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025" y="1400175"/>
          <a:ext cx="11029949" cy="5010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7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89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930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02030"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166534"/>
                          </a:solidFill>
                          <a:latin typeface="Inter"/>
                        </a:rPr>
                        <a:t>Year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166534"/>
                          </a:solidFill>
                          <a:latin typeface="Inter"/>
                        </a:rPr>
                        <a:t>Methodology Focus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166534"/>
                          </a:solidFill>
                          <a:latin typeface="Inter"/>
                        </a:rPr>
                        <a:t>Key Results &amp; Accuracy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2030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Inter"/>
                        </a:rPr>
                        <a:t>2018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Inter"/>
                        </a:rPr>
                        <a:t>Top-view 3D camera; extract hip height &amp; width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Inter"/>
                        </a:rPr>
                        <a:t>RMSEP ~41 kg (approx. 5.2% of mean body weight)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2030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Inter"/>
                        </a:rPr>
                        <a:t>2020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Inter"/>
                        </a:rPr>
                        <a:t>CNN models analyzing beef cattle images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Inter"/>
                        </a:rPr>
                        <a:t>CNN architecture performed best with MAE of 23.19 kg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2030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Inter"/>
                        </a:rPr>
                        <a:t>2023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Inter"/>
                        </a:rPr>
                        <a:t>3D contour features using Random Forest/CatBoost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Inter"/>
                        </a:rPr>
                        <a:t>Correlation r = 0.94, RMSE 33 kg, MAPE 4.0%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2030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Inter"/>
                        </a:rPr>
                        <a:t>2024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Inter"/>
                        </a:rPr>
                        <a:t>RGB-D depth images &amp; semantic segmentation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Inter"/>
                        </a:rPr>
                        <a:t>RGB-D fusion yielded high accuracy: MAE 14.35 kg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1025" y="2100262"/>
            <a:ext cx="10477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628775" y="2100262"/>
            <a:ext cx="48891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17927" y="2100262"/>
            <a:ext cx="509304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81025" y="3176587"/>
            <a:ext cx="10477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628775" y="3176587"/>
            <a:ext cx="48891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17927" y="3176587"/>
            <a:ext cx="509304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1025" y="4252912"/>
            <a:ext cx="10477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628775" y="4252912"/>
            <a:ext cx="48891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17927" y="4252912"/>
            <a:ext cx="509304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81025" y="5329237"/>
            <a:ext cx="10477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628775" y="5329237"/>
            <a:ext cx="48891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517927" y="5329237"/>
            <a:ext cx="509304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1500" y="43815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Poppins"/>
              </a:rPr>
              <a:t>Existing Literature Overview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14575"/>
            <a:ext cx="5238750" cy="31813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2314575"/>
            <a:ext cx="5238750" cy="31813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7275" y="2800350"/>
            <a:ext cx="448056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166534"/>
                </a:solidFill>
                <a:latin typeface="Poppins SemiBold"/>
              </a:rPr>
              <a:t>Hardware Dependency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7275" y="3343275"/>
            <a:ext cx="426720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The vast majority of existing methods rely heavily on 3D or depth cameras (RGB-D sensors). This equipment is too expensive and fragile for rural, resource-constrained environments.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67525" y="2800350"/>
            <a:ext cx="448056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166534"/>
                </a:solidFill>
                <a:latin typeface="Poppins SemiBold"/>
              </a:rPr>
              <a:t>Smallholder Applicability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67525" y="3343275"/>
            <a:ext cx="426720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Current datasets are highly controlled and collected in commercial research barns. There is a lack of simple, field-worker-friendly tools designed specifically for the unique conditions of Indian smallholder farms.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Poppins"/>
              </a:rPr>
              <a:t>Identified Research Gaps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5550693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Poppins"/>
              </a:rPr>
              <a:t>Question &amp; Hypothesis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524000"/>
            <a:ext cx="5286375" cy="18320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166534"/>
                </a:solidFill>
                <a:latin typeface="Inter"/>
              </a:rPr>
              <a:t>Research Question</a:t>
            </a:r>
            <a:r>
              <a:t>
</a:t>
            </a:r>
            <a:r>
              <a:rPr sz="1650" b="0" i="0" u="none">
                <a:solidFill>
                  <a:srgbClr val="334155"/>
                </a:solidFill>
                <a:latin typeface="Inter"/>
              </a:rPr>
              <a:t> Can standard 2D smartphone images accurately estimate the body weight of dairy cattle in smallholder farms using deep learning?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641824"/>
            <a:ext cx="5286375" cy="25023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166534"/>
                </a:solidFill>
                <a:latin typeface="Inter"/>
              </a:rPr>
              <a:t>Hypothesis</a:t>
            </a:r>
            <a:r>
              <a:t>
</a:t>
            </a:r>
            <a:r>
              <a:rPr sz="1650" b="0" i="0" u="none">
                <a:solidFill>
                  <a:srgbClr val="334155"/>
                </a:solidFill>
                <a:latin typeface="Inter"/>
              </a:rPr>
              <a:t> Deep learning segmentation and morphometric feature extraction (length, height, girth, area) from a single 2D image will yield a highly accurate weight prediction model, overcoming the need for 3D hardware.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600200"/>
            <a:ext cx="5238750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04850" y="1600200"/>
            <a:ext cx="1047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9625" y="1600200"/>
            <a:ext cx="5000625" cy="914400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Inter"/>
              </a:rPr>
              <a:t>System Architecture: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An end-to-end pipeline covering Image Preprocessing → Cattle Segmentation → Morphometric Feature Extraction → Weight Prediction.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850" y="2752725"/>
            <a:ext cx="1047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25" y="2752725"/>
            <a:ext cx="5000625" cy="914400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Inter"/>
              </a:rPr>
              <a:t>Hardware Independence: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Utilizes standard smartphone photos, eliminating the need for expensive 3D cameras or physical animal restraint.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850" y="3905250"/>
            <a:ext cx="1047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3905250"/>
            <a:ext cx="5000625" cy="914400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Inter"/>
              </a:rPr>
              <a:t>Accessible Interface: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Delivered through a lightweight web portal, empowering field workers to obtain instant estimations.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337" y="4800601"/>
            <a:ext cx="1047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 dirty="0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4" y="4785852"/>
            <a:ext cx="5000625" cy="914400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>
                <a:solidFill>
                  <a:srgbClr val="334155"/>
                </a:solidFill>
                <a:latin typeface="Inter"/>
              </a:rPr>
              <a:t>Future Expansion:</a:t>
            </a:r>
            <a:r>
              <a:rPr sz="1500" b="0" i="0" u="none" dirty="0">
                <a:solidFill>
                  <a:srgbClr val="334155"/>
                </a:solidFill>
                <a:latin typeface="Inter"/>
              </a:rPr>
              <a:t> The framework can easily be extended to buffaloes and integrated into a fully native mobile application for offline use.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1600200"/>
            <a:ext cx="5238750" cy="3810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Poppins"/>
              </a:rPr>
              <a:t>Proposed Solution &amp; Scope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425</Words>
  <Application>Microsoft Office PowerPoint</Application>
  <PresentationFormat>Widescreen</PresentationFormat>
  <Paragraphs>42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Calibri</vt:lpstr>
      <vt:lpstr>Inter</vt:lpstr>
      <vt:lpstr>Inter Medium</vt:lpstr>
      <vt:lpstr>Inter SemiBold</vt:lpstr>
      <vt:lpstr>Poppins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NISARG</dc:creator>
  <cp:keywords/>
  <dc:description>generated using python-pptx</dc:description>
  <cp:lastModifiedBy>Nisarg Vakharia</cp:lastModifiedBy>
  <cp:revision>2</cp:revision>
  <dcterms:created xsi:type="dcterms:W3CDTF">2013-01-27T09:14:16Z</dcterms:created>
  <dcterms:modified xsi:type="dcterms:W3CDTF">2026-08-10T15:48:25Z</dcterms:modified>
  <cp:category/>
</cp:coreProperties>
</file>