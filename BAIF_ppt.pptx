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761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6E9C4F"/>
          </a:solidFill>
          <a:ln/>
        </p:spPr>
      </p:sp>
      <p:sp>
        <p:nvSpPr>
          <p:cNvPr id="3" name="Shape 1"/>
          <p:cNvSpPr/>
          <p:nvPr/>
        </p:nvSpPr>
        <p:spPr>
          <a:xfrm>
            <a:off x="8915400" y="2331720"/>
            <a:ext cx="2514600" cy="2514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880360"/>
            <a:ext cx="1417320" cy="1417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338560" y="1280160"/>
            <a:ext cx="365760" cy="365760"/>
          </a:xfrm>
          <a:prstGeom prst="ellipse">
            <a:avLst/>
          </a:prstGeom>
          <a:solidFill>
            <a:srgbClr val="C9822A"/>
          </a:solidFill>
          <a:ln/>
        </p:spPr>
      </p:sp>
      <p:sp>
        <p:nvSpPr>
          <p:cNvPr id="6" name="Shape 3"/>
          <p:cNvSpPr/>
          <p:nvPr/>
        </p:nvSpPr>
        <p:spPr>
          <a:xfrm>
            <a:off x="8321040" y="5349240"/>
            <a:ext cx="502920" cy="502920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554480"/>
            <a:ext cx="7223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Vision-Based Body Weight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 of Dairy Cattle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40080" y="34290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D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 Approach for Indian Smallholder Dairy Systems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4008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Nisarg Vakharia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Estimate Cattle Body Weight?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6D0"/>
            </a:solidFill>
            <a:prstDash val="solid"/>
          </a:ln>
          <a:effectLst>
            <a:outerShdw blurRad="88900" dist="25400" dir="5400000" algn="bl" rotWithShape="0">
              <a:srgbClr val="8A9A7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64792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929384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25856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is important for feeding decisions.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6D0"/>
            </a:solidFill>
            <a:prstDash val="solid"/>
          </a:ln>
          <a:effectLst>
            <a:outerShdw blurRad="88900" dist="25400" dir="5400000" algn="bl" rotWithShape="0">
              <a:srgbClr val="8A9A7D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764792"/>
            <a:ext cx="685800" cy="685800"/>
          </a:xfrm>
          <a:prstGeom prst="ellipse">
            <a:avLst/>
          </a:prstGeom>
          <a:solidFill>
            <a:srgbClr val="6E9C4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1929384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7830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0" y="225856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supports breeding-related decisions.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4290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6D0"/>
            </a:solidFill>
            <a:prstDash val="solid"/>
          </a:ln>
          <a:effectLst>
            <a:outerShdw blurRad="88900" dist="25400" dir="5400000" algn="bl" rotWithShape="0">
              <a:srgbClr val="8A9A7D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85032"/>
            <a:ext cx="685800" cy="685800"/>
          </a:xfrm>
          <a:prstGeom prst="ellipse">
            <a:avLst/>
          </a:prstGeom>
          <a:solidFill>
            <a:srgbClr val="C9822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3849624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7033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417880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helps monitor animal health.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4290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6D0"/>
            </a:solidFill>
            <a:prstDash val="solid"/>
          </a:ln>
          <a:effectLst>
            <a:outerShdw blurRad="88900" dist="25400" dir="5400000" algn="bl" rotWithShape="0">
              <a:srgbClr val="8A9A7D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3685032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3849624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7033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Weighing Facilities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15200" y="417880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 often lack access to weighing scales.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44068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EF3E6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5440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measurement is labor-intensive, can stress the animal, and may be inaccurate.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Work: Key Studies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88620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14630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0" y="1463040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109167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75104"/>
            <a:ext cx="308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BW Prediction of Dairy Cows Using 3D Vision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86200" y="1975104"/>
            <a:ext cx="521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975104"/>
            <a:ext cx="3493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Top-view 3D camera; extract hip height, hip width, rump length; regression model.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1975104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RMSEP ~41 kg (about 5.2% of mean body weight).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52928"/>
            <a:ext cx="11091672" cy="932688"/>
          </a:xfrm>
          <a:prstGeom prst="rect">
            <a:avLst/>
          </a:prstGeom>
          <a:solidFill>
            <a:srgbClr val="EEF3E6"/>
          </a:solidFill>
          <a:ln w="9525">
            <a:solidFill>
              <a:srgbClr val="DCE6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07792"/>
            <a:ext cx="308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Techniques for Beef Cattle BW Prediction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2907792"/>
            <a:ext cx="521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907792"/>
            <a:ext cx="3493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RNN and recurrent-attention models trained on cattle images.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290779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performed best: MAE 23.19 kg, RMSE 38.46 kg.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85616"/>
            <a:ext cx="1109167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40480"/>
            <a:ext cx="308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of Girolando Cattle Weight from Images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86200" y="3840480"/>
            <a:ext cx="521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840480"/>
            <a:ext cx="3493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Dorsal/lateral image measurements compared across ML regression models.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38404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~38.46 kg on a small sample of 34 cattle.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18304"/>
            <a:ext cx="11091672" cy="932688"/>
          </a:xfrm>
          <a:prstGeom prst="rect">
            <a:avLst/>
          </a:prstGeom>
          <a:solidFill>
            <a:srgbClr val="EEF3E6"/>
          </a:solidFill>
          <a:ln w="9525">
            <a:solidFill>
              <a:srgbClr val="DCE6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773168"/>
            <a:ext cx="308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Literature Review of CV-Based Livestock Weighing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86200" y="4773168"/>
            <a:ext cx="521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4773168"/>
            <a:ext cx="3493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151 papers; 26 analyzed in depth across sensors and algorithms.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7731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common features identified: body length, hip height/width, chest girth, area.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650992"/>
            <a:ext cx="1109167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705856"/>
            <a:ext cx="308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Weight Prediction Using Deep Regression of RGB-D Images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86200" y="5705856"/>
            <a:ext cx="521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5705856"/>
            <a:ext cx="3493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RGB-D (color + depth) preprocessing with deep image regression.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0" y="5705856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reached 91.6% on real farm datasets.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Work: Key Studies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88620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14630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0" y="1463040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109167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75104"/>
            <a:ext cx="308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for Dairy Cattle BW from 3D Digital Images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86200" y="1975104"/>
            <a:ext cx="521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975104"/>
            <a:ext cx="3493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contour features with CatBoost, Random Forest, SVR on 914 real cows.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1975104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result: r = 0.94, RMSE 33 kg, MAPE 4.0%.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52928"/>
            <a:ext cx="11091672" cy="932688"/>
          </a:xfrm>
          <a:prstGeom prst="rect">
            <a:avLst/>
          </a:prstGeom>
          <a:solidFill>
            <a:srgbClr val="EEF3E6"/>
          </a:solidFill>
          <a:ln w="9525">
            <a:solidFill>
              <a:srgbClr val="DCE6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07792"/>
            <a:ext cx="308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BW and Body Condition Score Using Depth Images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2907792"/>
            <a:ext cx="521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907792"/>
            <a:ext cx="3493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Depth-sensing with image-derived body features, regressed for BW and BCS.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290779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estimated BW and BCS from a single depth image.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85616"/>
            <a:ext cx="1109167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40480"/>
            <a:ext cx="308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Data Modalities for Cattle Weight Estimation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86200" y="3840480"/>
            <a:ext cx="521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840480"/>
            <a:ext cx="3493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RGB, depth, RGB-D, and segmentation-fusion approaches.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38404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RGB-D fusion was most accurate: MAE 14.35 kg.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18304"/>
            <a:ext cx="11091672" cy="932688"/>
          </a:xfrm>
          <a:prstGeom prst="rect">
            <a:avLst/>
          </a:prstGeom>
          <a:solidFill>
            <a:srgbClr val="EEF3E6"/>
          </a:solidFill>
          <a:ln w="9525">
            <a:solidFill>
              <a:srgbClr val="DCE6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773168"/>
            <a:ext cx="308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Weight Prediction Using Semantic Segmentation + BPNN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86200" y="4773168"/>
            <a:ext cx="521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4773168"/>
            <a:ext cx="3493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ResNet-based segmentation of cow body, features fed into a neural network.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7731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MAE 13.11 lb, RMSE 22.73 lb.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650992"/>
            <a:ext cx="1109167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705856"/>
            <a:ext cx="308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Transfer Learning for Small Dairy Farms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86200" y="5705856"/>
            <a:ext cx="521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5705856"/>
            <a:ext cx="3493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(ConvNeXt, PointNet) from large-farm to small-farm data.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0" y="5705856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improved prediction on small, limited-data farms.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Missing — and Where This Project 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blurRad="76200" dist="25400" dir="5400000" algn="bl" rotWithShape="0">
              <a:srgbClr val="8A9A7D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5394960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Existing Research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7548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✗"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studies conducted on Indian smallholder dairy farms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✗"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methods rely on 3D or depth cameras, not a plain smartphone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✗"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are large, controlled, and collected in research barns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✗"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simple, field-worker-friendly system built for real deployment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39496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9050">
            <a:solidFill>
              <a:srgbClr val="C9822A"/>
            </a:solidFill>
            <a:prstDash val="solid"/>
          </a:ln>
          <a:effectLst>
            <a:outerShdw blurRad="76200" dist="25400" dir="5400000" algn="bl" rotWithShape="0">
              <a:srgbClr val="8A9A7D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508760"/>
            <a:ext cx="5394960" cy="594360"/>
          </a:xfrm>
          <a:prstGeom prst="rect">
            <a:avLst/>
          </a:prstGeom>
          <a:solidFill>
            <a:srgbClr val="C9822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087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Responds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7548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validated specifically for Indian smallholder conditions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a single smartphone image — no depth camera required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 small pilot dataset (50–100 animals), not thousands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through a simple portal any field worker can use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Proposed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1758208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7048" y="160020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Image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94944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496312"/>
            <a:ext cx="658368" cy="658368"/>
          </a:xfrm>
          <a:prstGeom prst="ellipse">
            <a:avLst/>
          </a:prstGeom>
          <a:solidFill>
            <a:srgbClr val="6E9C4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2654320"/>
            <a:ext cx="342351" cy="3423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27048" y="249631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 Segmentation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94944" y="3136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3392424"/>
            <a:ext cx="658368" cy="658368"/>
          </a:xfrm>
          <a:prstGeom prst="ellipse">
            <a:avLst/>
          </a:prstGeom>
          <a:solidFill>
            <a:srgbClr val="C9822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3550432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27048" y="3392424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94944" y="40325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48640" y="4288536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648" y="4446544"/>
            <a:ext cx="342351" cy="34235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27048" y="4288536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Prediction Model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94944" y="49286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548640" y="5184648"/>
            <a:ext cx="658368" cy="658368"/>
          </a:xfrm>
          <a:prstGeom prst="ellipse">
            <a:avLst/>
          </a:prstGeom>
          <a:solidFill>
            <a:srgbClr val="6E9C4F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648" y="5342656"/>
            <a:ext cx="342351" cy="34235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27048" y="5184648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Body Weight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6949440" y="1600200"/>
            <a:ext cx="4709160" cy="4480560"/>
          </a:xfrm>
          <a:prstGeom prst="roundRect">
            <a:avLst>
              <a:gd name="adj" fmla="val 1837"/>
            </a:avLst>
          </a:prstGeom>
          <a:solidFill>
            <a:srgbClr val="EEF3E6"/>
          </a:solidFill>
          <a:ln/>
        </p:spPr>
      </p:sp>
      <p:sp>
        <p:nvSpPr>
          <p:cNvPr id="24" name="Text 17"/>
          <p:cNvSpPr/>
          <p:nvPr/>
        </p:nvSpPr>
        <p:spPr>
          <a:xfrm>
            <a:off x="7269480" y="18745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9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2514600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726680" y="245059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Non-contact estimation</a:t>
            </a:r>
            <a:endParaRPr lang="en-US" sz="14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3172968"/>
            <a:ext cx="292608" cy="29260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726680" y="31089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Smartphone-based image capture</a:t>
            </a:r>
            <a:endParaRPr lang="en-US" sz="14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3831336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726680" y="376732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measurement</a:t>
            </a:r>
            <a:endParaRPr lang="en-US" sz="14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4489704"/>
            <a:ext cx="292608" cy="29260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726680" y="442569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specialized hardware</a:t>
            </a:r>
            <a:endParaRPr lang="en-US" sz="14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5148072"/>
            <a:ext cx="292608" cy="29260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726680" y="508406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output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91356" y="1417320"/>
            <a:ext cx="420624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91356" y="14173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Image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11596" y="193852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91356" y="2194560"/>
            <a:ext cx="420624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91356" y="21945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11596" y="27157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91356" y="2971800"/>
            <a:ext cx="420624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91356" y="2971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 Segmentation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11596" y="349300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91356" y="3749040"/>
            <a:ext cx="4206240" cy="731520"/>
          </a:xfrm>
          <a:prstGeom prst="rect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91356" y="37490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• Height • Girth • Area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11596" y="449884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91356" y="4754880"/>
            <a:ext cx="420624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91356" y="47548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Prediction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11596" y="52760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91356" y="5532120"/>
            <a:ext cx="4206240" cy="502920"/>
          </a:xfrm>
          <a:prstGeom prst="rect">
            <a:avLst/>
          </a:prstGeom>
          <a:solidFill>
            <a:srgbClr val="2C5F2D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91356" y="5532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Weight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 DEVELOPMENT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Model Training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28800"/>
            <a:ext cx="15361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Dairy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76272" y="182880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32304" y="182880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6E9C4F"/>
          </a:solidFill>
          <a:ln/>
        </p:spPr>
      </p:sp>
      <p:sp>
        <p:nvSpPr>
          <p:cNvPr id="8" name="Text 6"/>
          <p:cNvSpPr/>
          <p:nvPr/>
        </p:nvSpPr>
        <p:spPr>
          <a:xfrm>
            <a:off x="2478024" y="1828800"/>
            <a:ext cx="15361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59936" y="182880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5968" y="182880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1828800"/>
            <a:ext cx="15361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Weight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182880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9632" y="182880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6E9C4F"/>
          </a:solidFill>
          <a:ln/>
        </p:spPr>
      </p:sp>
      <p:sp>
        <p:nvSpPr>
          <p:cNvPr id="14" name="Text 12"/>
          <p:cNvSpPr/>
          <p:nvPr/>
        </p:nvSpPr>
        <p:spPr>
          <a:xfrm>
            <a:off x="6245352" y="1828800"/>
            <a:ext cx="15361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27264" y="182880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83296" y="182880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8129016" y="1828800"/>
            <a:ext cx="15361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10928" y="182880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66960" y="182880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6E9C4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12680" y="1828800"/>
            <a:ext cx="15361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EF3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37033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867912"/>
            <a:ext cx="356616" cy="35661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83080" y="3703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783080" y="42062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weighing-scale measurements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172200" y="338328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EF3E6"/>
          </a:solidFill>
          <a:ln/>
        </p:spPr>
      </p:sp>
      <p:sp>
        <p:nvSpPr>
          <p:cNvPr id="27" name="Shape 24"/>
          <p:cNvSpPr/>
          <p:nvPr/>
        </p:nvSpPr>
        <p:spPr>
          <a:xfrm>
            <a:off x="6492240" y="3703320"/>
            <a:ext cx="685800" cy="685800"/>
          </a:xfrm>
          <a:prstGeom prst="ellipse">
            <a:avLst/>
          </a:prstGeom>
          <a:solidFill>
            <a:srgbClr val="C9822A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867912"/>
            <a:ext cx="356616" cy="35661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406640" y="3703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7406640" y="42062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 |  PyTorch  |  Scikit-learn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FUTURE 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Scope, Feasibility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709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blurRad="76200" dist="25400" dir="5400000" algn="bl" rotWithShape="0">
              <a:srgbClr val="8A9A7D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187452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525" y="20500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291840"/>
            <a:ext cx="2926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cows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Smartphone-based images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animals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weight estimation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66160" cy="4709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6E9C4F"/>
            </a:solidFill>
            <a:prstDash val="solid"/>
          </a:ln>
          <a:effectLst>
            <a:outerShdw blurRad="76200" dist="25400" dir="5400000" algn="bl" rotWithShape="0">
              <a:srgbClr val="8A9A7D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5000" y="1874520"/>
            <a:ext cx="731520" cy="731520"/>
          </a:xfrm>
          <a:prstGeom prst="ellipse">
            <a:avLst/>
          </a:prstGeom>
          <a:solidFill>
            <a:srgbClr val="6E9C4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565" y="205008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9768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9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17720" y="3291840"/>
            <a:ext cx="2926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CV/ML libraries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or cloud GPU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Smartphone-only capture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depth camera required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554480"/>
            <a:ext cx="3566160" cy="4709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C9822A"/>
            </a:solidFill>
            <a:prstDash val="solid"/>
          </a:ln>
          <a:effectLst>
            <a:outerShdw blurRad="76200" dist="25400" dir="5400000" algn="bl" rotWithShape="0">
              <a:srgbClr val="8A9A7D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64040" y="1874520"/>
            <a:ext cx="731520" cy="731520"/>
          </a:xfrm>
          <a:prstGeom prst="ellipse">
            <a:avLst/>
          </a:prstGeom>
          <a:solidFill>
            <a:srgbClr val="C9822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605" y="205008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8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66760" y="3291840"/>
            <a:ext cx="2926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buffaloes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prediction accuracy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deployment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</Words>
  <Application>Microsoft Office PowerPoint</Application>
  <PresentationFormat>Widescreen</PresentationFormat>
  <Paragraphs>160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Nisarg Vakharia</cp:lastModifiedBy>
  <cp:revision>2</cp:revision>
  <dcterms:created xsi:type="dcterms:W3CDTF">2026-08-09T17:06:59Z</dcterms:created>
  <dcterms:modified xsi:type="dcterms:W3CDTF">2026-08-11T15:24:34Z</dcterms:modified>
</cp:coreProperties>
</file>