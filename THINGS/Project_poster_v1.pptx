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9AA0A6"/>
          </p15:clr>
        </p15:guide>
        <p15:guide id="2" orient="horz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" roundtripDataSignature="AMtx7mhVh+Fg4ocRMZsd4OGRR0WQ0wdK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 descr="A picture containing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47" y="121457"/>
            <a:ext cx="2920931" cy="11942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3074503" y="829023"/>
            <a:ext cx="9030900" cy="1200288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entury"/>
                <a:ea typeface="Century"/>
                <a:cs typeface="Century"/>
                <a:sym typeface="Century"/>
              </a:rPr>
              <a:t>DEPARTMENT OF COMPUTER SCIENCE &amp; ENGINEERING</a:t>
            </a:r>
            <a:endParaRPr sz="1800" b="0" i="0" u="none" strike="noStrike" cap="none" dirty="0">
              <a:solidFill>
                <a:schemeClr val="lt1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lvl="0" algn="ctr">
              <a:buSzPts val="2800"/>
            </a:pPr>
            <a:r>
              <a:rPr lang="en-US" sz="2000" b="1" dirty="0">
                <a:solidFill>
                  <a:schemeClr val="bg1"/>
                </a:solidFill>
              </a:rPr>
              <a:t>Computer Vision-Based Body Weight Estimation of Dairy Cattle</a:t>
            </a:r>
          </a:p>
          <a:p>
            <a:pPr algn="ctr">
              <a:buSzPts val="2800"/>
            </a:pPr>
            <a:r>
              <a:rPr lang="en-US" sz="1600" dirty="0">
                <a:solidFill>
                  <a:schemeClr val="bg1"/>
                </a:solidFill>
              </a:rPr>
              <a:t>A Deep Learning Approach for Indian Smallholder Dairy Systems</a:t>
            </a:r>
            <a:endParaRPr lang="en-US" sz="1600" b="1" dirty="0">
              <a:solidFill>
                <a:schemeClr val="bg1"/>
              </a:solidFill>
            </a:endParaRPr>
          </a:p>
          <a:p>
            <a:pPr lvl="0" algn="ctr">
              <a:buSzPts val="2800"/>
            </a:pPr>
            <a:r>
              <a:rPr lang="en-US" sz="1800" b="0" i="1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Nisarg Vakharia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25166" y="1367632"/>
            <a:ext cx="2869500" cy="661679"/>
          </a:xfrm>
          <a:prstGeom prst="rect">
            <a:avLst/>
          </a:prstGeom>
          <a:solidFill>
            <a:srgbClr val="FEE599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Faculty Guide: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Dr. </a:t>
            </a:r>
            <a:r>
              <a:rPr lang="en-US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Jayashree Prasad</a:t>
            </a:r>
            <a:endParaRPr sz="17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8916699" y="2103474"/>
            <a:ext cx="3000001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Proposed Architecture/ Diagram: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3074504" y="170085"/>
            <a:ext cx="7420624" cy="584775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323F4F"/>
                </a:solidFill>
                <a:latin typeface="Century"/>
                <a:ea typeface="Century"/>
                <a:cs typeface="Century"/>
                <a:sym typeface="Century"/>
              </a:rPr>
              <a:t>MIT SCHOOL OF COMPUTING </a:t>
            </a:r>
            <a:endParaRPr sz="3200" b="0" i="0" u="none" strike="noStrike" cap="none">
              <a:solidFill>
                <a:srgbClr val="323F4F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70261" y="4863745"/>
            <a:ext cx="4400018" cy="1922217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sz="12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lvl="0" indent="-171450" algn="just">
              <a:lnSpc>
                <a:spcPct val="107916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100" dirty="0"/>
              <a:t>Smallholder dairy farmers rarely have access to weighing scales, so body weight — critical for feeding, breeding, and health decisions — is estimated by eye, often inaccurately, and manual measurement is labor-intensive and can stress animals during handling.</a:t>
            </a:r>
          </a:p>
          <a:p>
            <a:pPr marL="171450" lvl="0" indent="-171450" algn="just">
              <a:lnSpc>
                <a:spcPct val="107916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100" dirty="0"/>
              <a:t>This project develops a computer vision-based system that estimates cattle body weight directly from a smartphone image, without physical contact, specialized hardware, or manual restraint.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4577663" y="4940162"/>
            <a:ext cx="4006200" cy="163117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Proposed Solution</a:t>
            </a:r>
            <a:endParaRPr sz="12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dirty="0"/>
              <a:t>Segment the animal from a smartphone image using a deep learning model, extract calibrated morphometric features (length, height, girth, area), and regress these into a predicted body weight using a model trained on animals with known actual weight.</a:t>
            </a:r>
            <a:endParaRPr lang="en-IN" sz="11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dirty="0"/>
              <a:t>Deliver this through a web portal where field workers upload an image and receive an instant weight estimate — no manual measurement needed in routine use.</a:t>
            </a:r>
            <a:endParaRPr lang="en-US" sz="1100" dirty="0">
              <a:effectLst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8691247" y="4855524"/>
            <a:ext cx="3414156" cy="1800453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Scope and Feasibility</a:t>
            </a:r>
          </a:p>
          <a:p>
            <a:pPr marL="171450" indent="-171450" algn="just">
              <a:buSzPts val="1600"/>
              <a:buFont typeface="Arial" panose="020B0604020202020204" pitchFamily="34" charset="0"/>
              <a:buChar char="•"/>
            </a:pPr>
            <a:r>
              <a:rPr lang="en-US" sz="1100" dirty="0"/>
              <a:t>Scope: Image-based body weight estimation for dairy cows (buffaloes as a future extension), built and validated on 50–100 animals with actual weighing-scale ground truth.</a:t>
            </a:r>
          </a:p>
          <a:p>
            <a:pPr marL="171450" indent="-171450" algn="just">
              <a:buSzPts val="1600"/>
              <a:buFont typeface="Arial" panose="020B0604020202020204" pitchFamily="34" charset="0"/>
              <a:buChar char="•"/>
            </a:pPr>
            <a:r>
              <a:rPr lang="en-US" sz="1100" dirty="0"/>
              <a:t>Feasibility: Fully achievable using open-source CV/ML libraries (OpenCV, PyTorch, scikit-learn), a laptop or free-tier cloud GPU for training, and smartphone-only image capture — no 3D/depth camera hardware required.</a:t>
            </a:r>
          </a:p>
        </p:txBody>
      </p:sp>
      <p:sp>
        <p:nvSpPr>
          <p:cNvPr id="93" name="Google Shape;93;p1"/>
          <p:cNvSpPr txBox="1"/>
          <p:nvPr/>
        </p:nvSpPr>
        <p:spPr>
          <a:xfrm>
            <a:off x="10565338" y="180102"/>
            <a:ext cx="1556400" cy="553957"/>
          </a:xfrm>
          <a:prstGeom prst="rect">
            <a:avLst/>
          </a:prstGeom>
          <a:solidFill>
            <a:srgbClr val="FEE599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: FY MSc.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8EA00F-DD7A-5842-45F4-A1019E2585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7639" y="2334965"/>
            <a:ext cx="3756224" cy="23966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27EBE6-8D5A-554C-9393-95A69875E3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61" y="2333687"/>
            <a:ext cx="4649994" cy="23947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F464CA-8C5F-EE04-7974-092C31CF46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1247" y="2403345"/>
            <a:ext cx="3414156" cy="23138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265</Words>
  <Application>Microsoft Office PowerPoint</Application>
  <PresentationFormat>Widescreen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Century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NISARG</dc:creator>
  <cp:lastModifiedBy>Nisarg Vakharia</cp:lastModifiedBy>
  <cp:revision>2</cp:revision>
  <dcterms:modified xsi:type="dcterms:W3CDTF">2026-08-08T13:02:25Z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65487c9-99ed-4cbc-93a8-0e9b1796bde5_Enabled">
    <vt:lpwstr>true</vt:lpwstr>
  </property>
  <property fmtid="{D5CDD505-2E9C-101B-9397-08002B2CF9AE}" pid="3" name="MSIP_Label_e65487c9-99ed-4cbc-93a8-0e9b1796bde5_SetDate">
    <vt:lpwstr>2023-08-22T15:55:58Z</vt:lpwstr>
  </property>
  <property fmtid="{D5CDD505-2E9C-101B-9397-08002B2CF9AE}" pid="4" name="MSIP_Label_e65487c9-99ed-4cbc-93a8-0e9b1796bde5_Method">
    <vt:lpwstr>Standard</vt:lpwstr>
  </property>
  <property fmtid="{D5CDD505-2E9C-101B-9397-08002B2CF9AE}" pid="5" name="MSIP_Label_e65487c9-99ed-4cbc-93a8-0e9b1796bde5_Name">
    <vt:lpwstr>defa4170-0d19-0005-0004-bc88714345d2</vt:lpwstr>
  </property>
  <property fmtid="{D5CDD505-2E9C-101B-9397-08002B2CF9AE}" pid="6" name="MSIP_Label_e65487c9-99ed-4cbc-93a8-0e9b1796bde5_SiteId">
    <vt:lpwstr>03cb5f0c-1f82-4993-9621-36330f6309ec</vt:lpwstr>
  </property>
  <property fmtid="{D5CDD505-2E9C-101B-9397-08002B2CF9AE}" pid="7" name="MSIP_Label_e65487c9-99ed-4cbc-93a8-0e9b1796bde5_ActionId">
    <vt:lpwstr>a9f9e4d2-07a5-4c01-b96a-2377cca3dabb</vt:lpwstr>
  </property>
  <property fmtid="{D5CDD505-2E9C-101B-9397-08002B2CF9AE}" pid="8" name="MSIP_Label_e65487c9-99ed-4cbc-93a8-0e9b1796bde5_ContentBits">
    <vt:lpwstr>0</vt:lpwstr>
  </property>
</Properties>
</file>